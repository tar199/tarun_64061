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704"/>
  </p:normalViewPr>
  <p:slideViewPr>
    <p:cSldViewPr snapToGrid="0">
      <p:cViewPr varScale="1">
        <p:scale>
          <a:sx n="113" d="100"/>
          <a:sy n="113" d="100"/>
        </p:scale>
        <p:origin x="1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C2737-04BE-4E45-BDEC-659BEE3D83A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EC152-2C1C-BF4A-AE25-BFFCCCD1E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9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EC152-2C1C-BF4A-AE25-BFFCCCD1E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82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EC152-2C1C-BF4A-AE25-BFFCCCD1E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10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EC152-2C1C-BF4A-AE25-BFFCCCD1EF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40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8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9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0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2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8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0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7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2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6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0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8A92B3A7-36D2-8F50-6489-808D1430C8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44FA21-D439-08F2-60BA-47368F0D9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200" b="0">
                <a:solidFill>
                  <a:srgbClr val="FFFFFF"/>
                </a:solidFill>
              </a:rPr>
              <a:t>Deep Learning for Influencer Marketing Analysis Using Global YouTube Trending Data</a:t>
            </a:r>
            <a:endParaRPr lang="en-US" sz="4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6FCD0-214F-61A8-834D-B951690EC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Tarun Betageri Tejeswara </a:t>
            </a:r>
          </a:p>
          <a:p>
            <a:r>
              <a:rPr lang="en-IN" sz="2400" i="0">
                <a:solidFill>
                  <a:srgbClr val="FFFFFF"/>
                </a:solidFill>
              </a:rPr>
              <a:t>811390248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A096BF7A-D10D-0805-2DA0-D6C398E535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03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1154"/>
    </mc:Choice>
    <mc:Fallback xmlns="">
      <p:transition spd="slow" advTm="311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59451-CC93-6B8E-2044-C782DC73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756C2AB-757D-A3B2-65DE-F08E8647D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F295AA2C-5F65-2311-2B9A-08B70C1CE86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8F1D59-E810-D584-D14F-C84D66C39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Problem Statement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4E8001-C21C-AECF-ACB0-488314294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58C3E6-9752-2117-DE95-C089F3AE22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4" y="3667314"/>
            <a:ext cx="1119550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Virality is unpredictable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Influencer marketing budgets are rising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Brands need data-driven prediction tools</a:t>
            </a:r>
          </a:p>
        </p:txBody>
      </p:sp>
      <p:pic>
        <p:nvPicPr>
          <p:cNvPr id="22" name="Audio 21">
            <a:extLst>
              <a:ext uri="{FF2B5EF4-FFF2-40B4-BE49-F238E27FC236}">
                <a16:creationId xmlns:a16="http://schemas.microsoft.com/office/drawing/2014/main" id="{9B87DE4C-7CAF-D4BC-1F5D-5ABC9A52B9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2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0660"/>
    </mc:Choice>
    <mc:Fallback xmlns="">
      <p:transition spd="slow" advTm="40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466F0-57E7-81E4-C048-78BCCED4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979769F-812D-2D6E-B2E2-AB41DC4E3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D25926CA-5F31-FC3F-6C93-30F652ED9B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ED5C4-C010-6742-B67A-1D58DCCF6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Dataset Overview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F55D5E-0F18-BE46-7041-3A51FB90F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F7B8D2F-2E24-4F25-664E-C1DACEF7CD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4" y="3328760"/>
            <a:ext cx="1070201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6.3M+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Multiple countries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Text + Metadata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Engagement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Viral label = top 10% views per date &amp; country</a:t>
            </a: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267893B0-AD75-EDA4-A230-9F4E9B4DE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5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2791"/>
    </mc:Choice>
    <mc:Fallback xmlns="">
      <p:transition spd="slow" advTm="32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7767D-280A-7AC3-017E-CBE61ED4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72EFF85-E1AA-EA6E-D132-4BBF9BB8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B673278A-D66E-298E-9DA5-62E1EA0057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E5572B-D1E4-0531-6A6C-27858D203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Feature Engineering 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F97764-531F-EA03-FEFF-197E810CE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676500B-012E-183D-3E9A-B7FA4C77CB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5" y="3544204"/>
            <a:ext cx="1113744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Title/description/tag lengths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Likes-per-view &amp; comments-per-view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Publish hour, day of week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Tokenized text sequences</a:t>
            </a: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C22137DC-1D5F-9979-605E-A3F661D23F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81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2841"/>
    </mc:Choice>
    <mc:Fallback xmlns="">
      <p:transition spd="slow" advTm="428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EDE74-D959-42FE-8D66-1A8F5614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F834A1E-DE66-47FF-1C7A-8001D5A43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F6E456A2-4191-2D59-DC77-4D47A3B7C6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D0B11-973F-2DFF-D289-44CB427E3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Models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AC55B6-29BA-F5F3-0193-4DDE8F41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5AC61A-D272-2DF1-5E23-CACEC497F9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5" y="3328762"/>
            <a:ext cx="1113744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MLP (metadata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i="0" dirty="0">
                <a:latin typeface="Arial" panose="020B0604020202020204" pitchFamily="34" charset="0"/>
              </a:rPr>
              <a:t>LSTM (Text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CNN (text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i="0" dirty="0">
                <a:latin typeface="Arial" panose="020B0604020202020204" pitchFamily="34" charset="0"/>
              </a:rPr>
              <a:t>Fusion model (text + metadata)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01F7EBE0-FEB1-675F-D762-804CEEBBB3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37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2140"/>
    </mc:Choice>
    <mc:Fallback xmlns="">
      <p:transition spd="slow" advTm="32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45F43-CA73-72F5-C399-FF55A2BE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AA2A756-1F14-1C89-3451-58BAF8A0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8E6FEC40-E127-BE47-A7C7-800400E0BF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B850D-F302-497C-0CD0-AF22A1E93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Model Architecture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EA5755-B03C-3B9F-AA24-1E2C16D60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EDF4A35-E94C-1298-904B-07DDDCC9F7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5" y="3544206"/>
            <a:ext cx="1113744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MLP: Dense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i="0" dirty="0">
                <a:latin typeface="Arial" panose="020B0604020202020204" pitchFamily="34" charset="0"/>
              </a:rPr>
              <a:t>LSTM: Sequence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i="0" dirty="0">
                <a:latin typeface="Arial" panose="020B0604020202020204" pitchFamily="34" charset="0"/>
              </a:rPr>
              <a:t>CNN: Pattern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Fusion</a:t>
            </a:r>
            <a:r>
              <a:rPr lang="en-US" altLang="en-US" sz="2800" i="0" dirty="0">
                <a:latin typeface="Arial" panose="020B0604020202020204" pitchFamily="34" charset="0"/>
              </a:rPr>
              <a:t>: Combined </a:t>
            </a:r>
            <a:r>
              <a:rPr lang="en-US" altLang="en-US" sz="2800" i="0" dirty="0" err="1">
                <a:latin typeface="Arial" panose="020B0604020202020204" pitchFamily="34" charset="0"/>
              </a:rPr>
              <a:t>represtion</a:t>
            </a:r>
            <a:r>
              <a:rPr lang="en-US" altLang="en-US" sz="2800" i="0" dirty="0">
                <a:latin typeface="Arial" panose="020B0604020202020204" pitchFamily="34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57E5636D-C1DB-B58F-E8CF-609E60CD96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2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6960"/>
    </mc:Choice>
    <mc:Fallback xmlns="">
      <p:transition spd="slow" advTm="36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1BDA7-E8AD-1DE3-EC74-548A6C9A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459BA6E-D216-DD2C-C0CC-373A8A3D1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BC12BF9C-3545-4EF3-8D05-D405A66E6C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DDBCA-E5C3-2E04-0EF1-C10DAE836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Result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1576E5-B974-960C-3BA6-4F5C576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21022F-7F5B-440A-2694-7172FB643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ED8B68-FEE2-07A6-76C0-F71269C0A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059492"/>
              </p:ext>
            </p:extLst>
          </p:nvPr>
        </p:nvGraphicFramePr>
        <p:xfrm>
          <a:off x="616802" y="2866234"/>
          <a:ext cx="11156952" cy="3483674"/>
        </p:xfrm>
        <a:graphic>
          <a:graphicData uri="http://schemas.openxmlformats.org/drawingml/2006/table">
            <a:tbl>
              <a:tblPr/>
              <a:tblGrid>
                <a:gridCol w="1859492">
                  <a:extLst>
                    <a:ext uri="{9D8B030D-6E8A-4147-A177-3AD203B41FA5}">
                      <a16:colId xmlns:a16="http://schemas.microsoft.com/office/drawing/2014/main" val="3904145143"/>
                    </a:ext>
                  </a:extLst>
                </a:gridCol>
                <a:gridCol w="1859492">
                  <a:extLst>
                    <a:ext uri="{9D8B030D-6E8A-4147-A177-3AD203B41FA5}">
                      <a16:colId xmlns:a16="http://schemas.microsoft.com/office/drawing/2014/main" val="880007698"/>
                    </a:ext>
                  </a:extLst>
                </a:gridCol>
                <a:gridCol w="1859492">
                  <a:extLst>
                    <a:ext uri="{9D8B030D-6E8A-4147-A177-3AD203B41FA5}">
                      <a16:colId xmlns:a16="http://schemas.microsoft.com/office/drawing/2014/main" val="3340596544"/>
                    </a:ext>
                  </a:extLst>
                </a:gridCol>
                <a:gridCol w="1859492">
                  <a:extLst>
                    <a:ext uri="{9D8B030D-6E8A-4147-A177-3AD203B41FA5}">
                      <a16:colId xmlns:a16="http://schemas.microsoft.com/office/drawing/2014/main" val="3350103799"/>
                    </a:ext>
                  </a:extLst>
                </a:gridCol>
                <a:gridCol w="1859492">
                  <a:extLst>
                    <a:ext uri="{9D8B030D-6E8A-4147-A177-3AD203B41FA5}">
                      <a16:colId xmlns:a16="http://schemas.microsoft.com/office/drawing/2014/main" val="981528385"/>
                    </a:ext>
                  </a:extLst>
                </a:gridCol>
                <a:gridCol w="1859492">
                  <a:extLst>
                    <a:ext uri="{9D8B030D-6E8A-4147-A177-3AD203B41FA5}">
                      <a16:colId xmlns:a16="http://schemas.microsoft.com/office/drawing/2014/main" val="2793221120"/>
                    </a:ext>
                  </a:extLst>
                </a:gridCol>
              </a:tblGrid>
              <a:tr h="409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index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Accuracy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AUC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effectLst/>
                        </a:rPr>
                        <a:t>Precision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Recall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F1 score</a:t>
                      </a:r>
                    </a:p>
                  </a:txBody>
                  <a:tcPr marL="86099" marR="86099" marT="17937" marB="179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31551"/>
                  </a:ext>
                </a:extLst>
              </a:tr>
              <a:tr h="7686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700" b="1">
                          <a:effectLst/>
                        </a:rPr>
                        <a:t>CNN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0.9487136652188439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0.9736779406029691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0.7991860612997583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0.6686732336130367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0.7281274570660046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596992"/>
                  </a:ext>
                </a:extLst>
              </a:tr>
              <a:tr h="7686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700" b="1">
                          <a:effectLst/>
                        </a:rPr>
                        <a:t>Fusion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0.9826136374281423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0.9967420093356515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0.9289347273241029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0.899534841298796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0.9139984245401047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09943"/>
                  </a:ext>
                </a:extLst>
              </a:tr>
              <a:tr h="7686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700" b="1">
                          <a:effectLst/>
                        </a:rPr>
                        <a:t>LSTM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0.9486028146672454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0.973617934464853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0.7701032283516339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0.7121792533138757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0.7400094771758016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576239"/>
                  </a:ext>
                </a:extLst>
              </a:tr>
              <a:tr h="76862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700" b="1">
                          <a:effectLst/>
                        </a:rPr>
                        <a:t>MLP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0.9708369372773231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0.9903120197834933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0.9065752904417477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>
                          <a:effectLst/>
                        </a:rPr>
                        <a:t>0.798324820625076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700" dirty="0">
                          <a:effectLst/>
                        </a:rPr>
                        <a:t>0.849013442402981</a:t>
                      </a:r>
                    </a:p>
                  </a:txBody>
                  <a:tcPr marL="86099" marR="86099" marT="17937" marB="1793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935705"/>
                  </a:ext>
                </a:extLst>
              </a:tr>
            </a:tbl>
          </a:graphicData>
        </a:graphic>
      </p:graphicFrame>
      <p:pic>
        <p:nvPicPr>
          <p:cNvPr id="11" name="Audio 10">
            <a:extLst>
              <a:ext uri="{FF2B5EF4-FFF2-40B4-BE49-F238E27FC236}">
                <a16:creationId xmlns:a16="http://schemas.microsoft.com/office/drawing/2014/main" id="{13F0D3FC-DBCA-1BFD-F171-3A453D4A83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1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4000"/>
    </mc:Choice>
    <mc:Fallback xmlns="">
      <p:transition spd="slow" advTm="3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3048A-45E3-B80E-0430-EC5A0AC6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0AFC4A8-A2AA-6B4D-AB2E-DAD5CF50E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3FBD34A6-1496-9611-6B2E-0BE3A9B2F0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B613D-9FEE-1033-55A0-2050519F6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Performance Graphs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6E6530-0D60-5695-DC6E-FB06051B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F76F55-B9D5-85F2-2CED-3A8F019A1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A0D721-6A2B-119F-979A-FBF05A2AD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69" y="2073916"/>
            <a:ext cx="5374931" cy="42759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2111A9-EDAD-C6A4-9C2D-53E197F2A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1" y="2073917"/>
            <a:ext cx="5581647" cy="4275992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74E92782-E15D-31AE-5F06-D4DAB078C6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82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4261"/>
    </mc:Choice>
    <mc:Fallback xmlns="">
      <p:transition spd="slow" advTm="24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0058C-D10B-61B6-7F19-86D7BBB5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2AE66C2-10A4-0834-64A8-3531736BE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3F6810A4-3CF6-4B93-7DC9-DFC64AD0308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44B33E-711A-6540-0306-97F25213D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Business Implication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39C826-4BB8-78F3-7854-9706F61A9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14F535-F435-2E3C-8F80-A5365B144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C8EE9BB-BF9C-1294-6FA9-D9C408825C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5" y="3544204"/>
            <a:ext cx="110213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Budget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Identifying high-potential influencers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Predicting campaign success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Platform recommendation improvements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4667266F-E4F7-0D03-FC0A-6E53FCFD95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92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2132"/>
    </mc:Choice>
    <mc:Fallback xmlns="">
      <p:transition spd="slow" advTm="32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84258-69E3-F0F7-68CE-9648D0F23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44531E9-52D0-D2E7-2BBD-ED212B077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DD5502DB-483F-3A01-5517-DA8B11E7C21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7865" b="786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54A8B7-9201-A09A-9777-50AC951D4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354816" cy="139714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b="0" dirty="0"/>
              <a:t>Conclusion &amp; Future Work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F0AD16-74B0-033A-F196-3A547E269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7CDCF5-6220-1196-ED9F-3925BD698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3E3A0CE1-395F-598F-0D16-7E8A64B0BE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525" y="2810093"/>
            <a:ext cx="11021332" cy="3284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i="0" dirty="0">
                <a:latin typeface="Arial" panose="020B0604020202020204" pitchFamily="34" charset="0"/>
                <a:cs typeface="Arial" panose="020B0604020202020204" pitchFamily="34" charset="0"/>
              </a:rPr>
              <a:t>Fusion = best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i="0" dirty="0">
                <a:latin typeface="Arial" panose="020B0604020202020204" pitchFamily="34" charset="0"/>
                <a:cs typeface="Arial" panose="020B0604020202020204" pitchFamily="34" charset="0"/>
              </a:rPr>
              <a:t>Large dataset enabled robust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i="0" dirty="0">
                <a:latin typeface="Arial" panose="020B0604020202020204" pitchFamily="34" charset="0"/>
                <a:cs typeface="Arial" panose="020B0604020202020204" pitchFamily="34" charset="0"/>
              </a:rPr>
              <a:t>Next steps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BERT (Bidirectional Encoder Representations from Transformers)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Temporal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(Transformers)</a:t>
            </a: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205FAAEB-846B-17C9-D802-E7BE8929A5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29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1001"/>
    </mc:Choice>
    <mc:Fallback xmlns="">
      <p:transition spd="slow" advTm="410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192</Words>
  <Application>Microsoft Macintosh PowerPoint</Application>
  <PresentationFormat>Widescreen</PresentationFormat>
  <Paragraphs>74</Paragraphs>
  <Slides>10</Slides>
  <Notes>3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Bierstadt</vt:lpstr>
      <vt:lpstr>GestaltVTI</vt:lpstr>
      <vt:lpstr>Deep Learning for Influencer Marketing Analysis Using Global YouTube Trending Data</vt:lpstr>
      <vt:lpstr>Problem Statement</vt:lpstr>
      <vt:lpstr>Dataset Overview</vt:lpstr>
      <vt:lpstr>Feature Engineering </vt:lpstr>
      <vt:lpstr>Models</vt:lpstr>
      <vt:lpstr>Model Architecture</vt:lpstr>
      <vt:lpstr>Result</vt:lpstr>
      <vt:lpstr>Performance Graphs</vt:lpstr>
      <vt:lpstr>Business Implication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hmahemanth@gmail.com</dc:creator>
  <cp:lastModifiedBy>hmahemanth@gmail.com</cp:lastModifiedBy>
  <cp:revision>4</cp:revision>
  <dcterms:created xsi:type="dcterms:W3CDTF">2025-12-04T03:28:31Z</dcterms:created>
  <dcterms:modified xsi:type="dcterms:W3CDTF">2025-12-04T21:38:28Z</dcterms:modified>
</cp:coreProperties>
</file>